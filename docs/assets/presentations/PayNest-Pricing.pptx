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8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ynes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502920"/>
            <a:ext cx="8412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A233A"/>
                </a:solidFill>
                <a:latin typeface="Segoe UI"/>
              </a:rPr>
              <a:t>باقات وأسعار PayNest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43000"/>
            <a:ext cx="8412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نظام موارد بشرية ورواتب متكامل — بسعر يناسب حجم شركتك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4290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3429000" cy="146304"/>
          </a:xfrm>
          <a:prstGeom prst="roundRect">
            <a:avLst/>
          </a:prstGeom>
          <a:solidFill>
            <a:srgbClr val="0C8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63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A233A"/>
                </a:solidFill>
                <a:latin typeface="Segoe UI"/>
              </a:rPr>
              <a:t>الأساسية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حتى 50 موظف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3063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C8CE8"/>
                </a:solidFill>
                <a:latin typeface="Segoe UI"/>
              </a:rPr>
              <a:t>≈ 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دينار سنوياً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3063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2 دينار / موظف / شهر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00600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الرواتب (يومي + بالساعة)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29784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الحضور والإجازات والمغادرات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458968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التقييم والمهام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88152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دعم عبر البريد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828800"/>
            <a:ext cx="3429000" cy="4709160"/>
          </a:xfrm>
          <a:prstGeom prst="roundRect">
            <a:avLst>
              <a:gd name="adj" fmla="val 5000"/>
            </a:avLst>
          </a:prstGeom>
          <a:solidFill>
            <a:srgbClr val="072A44"/>
          </a:solidFill>
          <a:ln w="25400">
            <a:solidFill>
              <a:srgbClr val="0A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828800"/>
            <a:ext cx="3429000" cy="146304"/>
          </a:xfrm>
          <a:prstGeom prst="roundRect">
            <a:avLst/>
          </a:prstGeom>
          <a:solidFill>
            <a:srgbClr val="0A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2100" y="181051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2100" y="1810512"/>
            <a:ext cx="1737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⭐ الأكثر طلباً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286000"/>
            <a:ext cx="3063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المتقدّمة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88920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7DDF0"/>
                </a:solidFill>
                <a:latin typeface="Segoe UI"/>
              </a:rPr>
              <a:t>من 51 إلى 100 موظف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00400"/>
            <a:ext cx="3063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≈ 890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8620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7DDF0"/>
                </a:solidFill>
                <a:latin typeface="Segoe UI"/>
              </a:rPr>
              <a:t>دينار سنوياً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06240"/>
            <a:ext cx="3063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7DDF0"/>
                </a:solidFill>
                <a:latin typeface="Segoe UI"/>
              </a:rPr>
              <a:t>1.5 دينار / موظف / شهر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617720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6EFF7"/>
                </a:solidFill>
                <a:latin typeface="Segoe UI"/>
              </a:rPr>
              <a:t>كل مزايا الأساسية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946904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6EFF7"/>
                </a:solidFill>
                <a:latin typeface="Segoe UI"/>
              </a:rPr>
              <a:t>السلف والمكافآت والخصومات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276088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6EFF7"/>
                </a:solidFill>
                <a:latin typeface="Segoe UI"/>
              </a:rPr>
              <a:t>الهيكل الإداري + الخطابات الرسمية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605272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6EFF7"/>
                </a:solidFill>
                <a:latin typeface="Segoe UI"/>
              </a:rPr>
              <a:t>سجل تدقيق + تقارير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934456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6EFF7"/>
                </a:solidFill>
                <a:latin typeface="Segoe UI"/>
              </a:rPr>
              <a:t>دعم ذو أولوية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011680"/>
            <a:ext cx="34290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2011680"/>
            <a:ext cx="3429000" cy="14630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468880"/>
            <a:ext cx="3063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A233A"/>
                </a:solidFill>
                <a:latin typeface="Segoe UI"/>
              </a:rPr>
              <a:t>المؤسسات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71800"/>
            <a:ext cx="3063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أكثر من 100 موظف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383280"/>
            <a:ext cx="3063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Segoe UI"/>
              </a:rPr>
              <a:t>تواصل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06908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معنا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389120"/>
            <a:ext cx="3063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تسعير مخصّص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800600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كل مزايا المتقدّمة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5129784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تعدّد الشركات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458968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حدود مرنة + تكامل خاص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788152"/>
            <a:ext cx="2880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دعم مخصّص  </a:t>
            </a:r>
            <a:r>
              <a:rPr sz="12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75569"/>
                </a:solidFill>
                <a:latin typeface="Segoe UI"/>
              </a:rPr>
              <a:t>الأسعار شاملة كل المزايا • خصم 15% عند الدفع السنوي • رسوم تجهيز لمرة واحدة 50–150 دينار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8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ynest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640080"/>
            <a:ext cx="96012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ليش PayNest يستحق؟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C7DDF0"/>
                </a:solidFill>
                <a:latin typeface="Segoe UI"/>
              </a:rPr>
              <a:t>أوفر، أبسط، ومصمّم لشركات المنطقة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10312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239572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أرخص من موظف إداري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نظام كامل بأقل من تكلفة نصف راتب موظف بالسنة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39572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تشغيل خلال دقائق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بدون أجهزة معقّدة — رفع Excel وخلصت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42900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372160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مصمّم لنا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ضمان اجتماعي، عربي/إنجليزي، قوانين المنطقة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2900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72160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آمن ومعزول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بيانات كل شركة معزولة + سجل تدقيق كامل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75488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504748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3776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ينمو معك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من شركة صغيرة لعدة شركات بنفس النظام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0A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047488"/>
            <a:ext cx="548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4023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دعم محلي</a:t>
            </a:r>
          </a:p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FD8EE"/>
                </a:solidFill>
                <a:latin typeface="Segoe UI"/>
              </a:rPr>
              <a:t>فريق يفهمك ويتحدّث لغتك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61722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6172200"/>
            <a:ext cx="30175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A233A"/>
                </a:solidFill>
                <a:latin typeface="Segoe UI"/>
              </a:rPr>
              <a:t>جرّبه مجاناً اليوم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